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1204250bdb41be" /><Relationship Type="http://schemas.openxmlformats.org/officeDocument/2006/relationships/extended-properties" Target="/docProps/app.xml" Id="Ra3a1a41c97b64e4e" /><Relationship Type="http://schemas.openxmlformats.org/officeDocument/2006/relationships/officeDocument" Target="/ppt/presentation.xml" Id="R50caf9c116394c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26157f32ad4b27"/>
  </p:sldMasterIdLst>
  <p:notesMasterIdLst>
    <p:notesMasterId xmlns:r="http://schemas.openxmlformats.org/officeDocument/2006/relationships" r:id="R51bba86262e64ebc"/>
  </p:notesMasterIdLst>
  <p:sldIdLst>
    <p:sldId xmlns:r="http://schemas.openxmlformats.org/officeDocument/2006/relationships" id="256" r:id="R6f957ad880e24b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1880a698b045a4" /><Relationship Type="http://schemas.openxmlformats.org/officeDocument/2006/relationships/slideMaster" Target="/ppt/slideMasters/slideMaster1.xml" Id="R5326157f32ad4b27" /><Relationship Type="http://schemas.openxmlformats.org/officeDocument/2006/relationships/notesMaster" Target="/ppt/notesMasters/notesMaster1.xml" Id="R51bba86262e64ebc" /><Relationship Type="http://schemas.openxmlformats.org/officeDocument/2006/relationships/presProps" Target="/ppt/presProps.xml" Id="R3da738cec5324e34" /><Relationship Type="http://schemas.openxmlformats.org/officeDocument/2006/relationships/tableStyles" Target="/ppt/tableStyles.xml" Id="R29b268b830ef40ac" /><Relationship Type="http://schemas.openxmlformats.org/officeDocument/2006/relationships/slide" Target="/ppt/slides/slide1.xml" Id="R6f957ad880e24b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93e04acccf4b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acfb2b9da34015" /><Relationship Type="http://schemas.openxmlformats.org/officeDocument/2006/relationships/notesMaster" Target="/ppt/notesMasters/notesMaster1.xml" Id="Rd70fb68e3ba04c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ILORは、過去のロボットのデータから短い動作系列をスキルとして学び、そのスキルを組み合わせる方策を模倣学習する手法です。たとえば、物をつかむ、運ぶ、といった動作を再利用して、複数の段階からなるタスクを扱います。これらの動作名は説明用の例であり、手作業でスキル名を付けるという意味ではあり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図の左では、既存データの固定長の部分軌道をVAEで潜在スキルに変換し、decoderが観測とスキルから各時刻の行動を復元するように学習します。さらに、同じ軌道から取った二つの部分軌道について、どれだけ時間が離れているかを予測する補助学習を加え、方策が予測しやすいスキル表現を目指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央では、対象タスクのデモと既存データを同じスキル空間に埋め込みます。既存データの各部分軌道について、最も近い対象デモの部分軌道までのL2距離を求め、その距離が小さい順にn個を検索します。デモごとにn個ずつ選ぶのではなく、候補全体からn個を選ぶ手順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右では、対象デモと検索結果を使い、観測履歴から次のスキルを予測する方策をBehavior Cloningで学習します。検索結果の学習項には重みを付けます。また、スキルモデルも対象デモでfine-tuningします。実行時は、方策がスキルを選び、decoderが最新の観測も見ながらHステップ分の行動を出し、次のスキルを再び選び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Behavior Retrievalが状態・行動の組の類似度でデータを選ぶのに対し、SAILORは短い動作系列の表現を検索と方策の出力に使います。今回の研究との接点は、このスキルベクトル間の検索です。ただし、原論文の検索はペアごとのL2距離計算であり、グラフ型ANNによる高速化を検証したものではありません。SAILOR自体は模倣学習の手法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出典：SAILOR原論文 Fig.1–2、§3–4.2、Algorithm 1–2（../../raw/temp/nasiriany_2023_sailor.pdf）。Behavior Retrievalとの比較：../../raw/papers/2304.08742v2.pdf §III。図はSAILOR原論文Fig.1を抜粋。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4387e4965142a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b4da5c459444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1478a3e96b42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9d424a786d4b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d64eb2d29d4c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9090e4ce0f4d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95795C-BD92-4B72-A43A-4CF9000C7B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BF1E60A-4ABB-4B29-87A2-BF88CD27F48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497B8C5-E7EB-4879-A32C-7254E7E057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E7663C-FD66-40EB-AD53-2620F783D6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137CCA-8204-4D2A-B937-D7A7F32495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71E2E2-6590-481B-B144-2EEBF40CCA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C8990F-3C54-4808-9F97-9EB3FFDE93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20127F7-1E87-477B-BC57-63F2251BD2F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8C5BAB-887F-465D-8E9C-1B2553BC24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5AC58C-7916-4589-AA4A-9BA20C06CC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703761ce034ff9" /><Relationship Type="http://schemas.openxmlformats.org/officeDocument/2006/relationships/slideLayout" Target="/ppt/slideLayouts/slideLayout1.xml" Id="Reed8d79f5f554894" /><Relationship Type="http://schemas.openxmlformats.org/officeDocument/2006/relationships/slideLayout" Target="/ppt/slideLayouts/slideLayout2.xml" Id="Rdbc62e8152fc45b3" /><Relationship Type="http://schemas.openxmlformats.org/officeDocument/2006/relationships/slideLayout" Target="/ppt/slideLayouts/slideLayout3.xml" Id="Rab6f01ff56704779" /><Relationship Type="http://schemas.openxmlformats.org/officeDocument/2006/relationships/slideLayout" Target="/ppt/slideLayouts/slideLayout4.xml" Id="R5192d3a751b74622" /><Relationship Type="http://schemas.openxmlformats.org/officeDocument/2006/relationships/slideLayout" Target="/ppt/slideLayouts/slideLayout5.xml" Id="Rec7e8053fae44c1e" /><Relationship Type="http://schemas.openxmlformats.org/officeDocument/2006/relationships/slideLayout" Target="/ppt/slideLayouts/slideLayout6.xml" Id="R4fc5b6a5241546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d8d79f5f554894"/>
    <p:sldLayoutId xmlns:r="http://schemas.openxmlformats.org/officeDocument/2006/relationships" id="2147483650" r:id="Rdbc62e8152fc45b3"/>
    <p:sldLayoutId xmlns:r="http://schemas.openxmlformats.org/officeDocument/2006/relationships" id="2147483651" r:id="Rab6f01ff56704779"/>
    <p:sldLayoutId xmlns:r="http://schemas.openxmlformats.org/officeDocument/2006/relationships" id="2147483652" r:id="R5192d3a751b74622"/>
    <p:sldLayoutId xmlns:r="http://schemas.openxmlformats.org/officeDocument/2006/relationships" id="2147483653" r:id="Rec7e8053fae44c1e"/>
    <p:sldLayoutId xmlns:r="http://schemas.openxmlformats.org/officeDocument/2006/relationships" id="2147483654" r:id="R4fc5b6a5241546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b837c38ec945c7" /><Relationship Type="http://schemas.openxmlformats.org/officeDocument/2006/relationships/image" Target="/ppt/media/image.png" Id="Rbb474d28f58b425b" /><Relationship Type="http://schemas.openxmlformats.org/officeDocument/2006/relationships/notesSlide" Target="/ppt/notesSlides/notesSlide1.xml" Id="R5f1f6b9f2c4a48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2285A-83AC-4DF0-86EE-0C918C93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defPPr>
            <a:lvl1pPr>
              <a:defRPr sz="36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1pPr>
            <a:lvl2pPr>
              <a:defRPr sz="36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2pPr>
            <a:lvl3pPr>
              <a:defRPr sz="36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3pPr>
            <a:lvl4pPr>
              <a:defRPr sz="36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4pPr>
            <a:lvl5pPr>
              <a:defRPr sz="36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5pPr>
            <a:lvl6pPr>
              <a:defRPr sz="36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6pPr>
            <a:lvl7pPr>
              <a:defRPr sz="36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7pPr>
            <a:lvl8pPr>
              <a:defRPr sz="36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8pPr>
            <a:lvl9pPr>
              <a:defRPr sz="36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72D42"/>
                </a:solidFill>
                <a:latin typeface="Yu Gothic"/>
                <a:ea typeface="Yu Gothic"/>
                <a:cs typeface="Yu Gothic"/>
              </a:rPr>
              <a:t>SAILOR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2A703-0E1A-4C5F-BECA-A48EC8E4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defPPr>
            <a:lvl1pPr>
              <a:defRPr sz="24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1pPr>
            <a:lvl2pPr>
              <a:defRPr sz="24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2pPr>
            <a:lvl3pPr>
              <a:defRPr sz="24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3pPr>
            <a:lvl4pPr>
              <a:defRPr sz="24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4pPr>
            <a:lvl5pPr>
              <a:defRPr sz="24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5pPr>
            <a:lvl6pPr>
              <a:defRPr sz="24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6pPr>
            <a:lvl7pPr>
              <a:defRPr sz="24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7pPr>
            <a:lvl8pPr>
              <a:defRPr sz="24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8pPr>
            <a:lvl9pPr>
              <a:defRPr sz="24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72D42"/>
                </a:solidFill>
                <a:latin typeface="Yu Gothic"/>
                <a:ea typeface="Yu Gothic"/>
                <a:cs typeface="Yu Gothic"/>
              </a:rPr>
              <a:t>短い動作系列をスキルとして検索・再利用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890A2-95CE-4AEE-8E13-BDEF8297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defPPr>
            <a:lvl1pPr>
              <a:defRPr sz="21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1pPr>
            <a:lvl2pPr>
              <a:defRPr sz="21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2pPr>
            <a:lvl3pPr>
              <a:defRPr sz="21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3pPr>
            <a:lvl4pPr>
              <a:defRPr sz="21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4pPr>
            <a:lvl5pPr>
              <a:defRPr sz="21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5pPr>
            <a:lvl6pPr>
              <a:defRPr sz="21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6pPr>
            <a:lvl7pPr>
              <a:defRPr sz="21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7pPr>
            <a:lvl8pPr>
              <a:defRPr sz="21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8pPr>
            <a:lvl9pPr>
              <a:defRPr sz="21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72D42"/>
                </a:solidFill>
                <a:latin typeface="Yu Gothic"/>
                <a:ea typeface="Yu Gothic"/>
                <a:cs typeface="Yu Gothic"/>
              </a:rPr>
              <a:t>スキル表現の学習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E4EBC-B287-4F02-9C8B-10D9E8F7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8C95"/>
                </a:solidFill>
                <a:latin typeface="Yu Gothic"/>
                <a:ea typeface="Yu Gothic"/>
                <a:cs typeface="Yu Gothic"/>
              </a:defRPr>
            </a:defPPr>
            <a:lvl1pPr>
              <a:defRPr sz="2100" b="1">
                <a:solidFill>
                  <a:srgbClr val="008C95"/>
                </a:solidFill>
                <a:latin typeface="Yu Gothic"/>
                <a:ea typeface="Yu Gothic"/>
                <a:cs typeface="Yu Gothic"/>
              </a:defRPr>
            </a:lvl1pPr>
            <a:lvl2pPr>
              <a:defRPr sz="2100" b="1">
                <a:solidFill>
                  <a:srgbClr val="008C95"/>
                </a:solidFill>
                <a:latin typeface="Yu Gothic"/>
                <a:ea typeface="Yu Gothic"/>
                <a:cs typeface="Yu Gothic"/>
              </a:defRPr>
            </a:lvl2pPr>
            <a:lvl3pPr>
              <a:defRPr sz="2100" b="1">
                <a:solidFill>
                  <a:srgbClr val="008C95"/>
                </a:solidFill>
                <a:latin typeface="Yu Gothic"/>
                <a:ea typeface="Yu Gothic"/>
                <a:cs typeface="Yu Gothic"/>
              </a:defRPr>
            </a:lvl3pPr>
            <a:lvl4pPr>
              <a:defRPr sz="2100" b="1">
                <a:solidFill>
                  <a:srgbClr val="008C95"/>
                </a:solidFill>
                <a:latin typeface="Yu Gothic"/>
                <a:ea typeface="Yu Gothic"/>
                <a:cs typeface="Yu Gothic"/>
              </a:defRPr>
            </a:lvl4pPr>
            <a:lvl5pPr>
              <a:defRPr sz="2100" b="1">
                <a:solidFill>
                  <a:srgbClr val="008C95"/>
                </a:solidFill>
                <a:latin typeface="Yu Gothic"/>
                <a:ea typeface="Yu Gothic"/>
                <a:cs typeface="Yu Gothic"/>
              </a:defRPr>
            </a:lvl5pPr>
            <a:lvl6pPr>
              <a:defRPr sz="2100" b="1">
                <a:solidFill>
                  <a:srgbClr val="008C95"/>
                </a:solidFill>
                <a:latin typeface="Yu Gothic"/>
                <a:ea typeface="Yu Gothic"/>
                <a:cs typeface="Yu Gothic"/>
              </a:defRPr>
            </a:lvl6pPr>
            <a:lvl7pPr>
              <a:defRPr sz="2100" b="1">
                <a:solidFill>
                  <a:srgbClr val="008C95"/>
                </a:solidFill>
                <a:latin typeface="Yu Gothic"/>
                <a:ea typeface="Yu Gothic"/>
                <a:cs typeface="Yu Gothic"/>
              </a:defRPr>
            </a:lvl7pPr>
            <a:lvl8pPr>
              <a:defRPr sz="2100" b="1">
                <a:solidFill>
                  <a:srgbClr val="008C95"/>
                </a:solidFill>
                <a:latin typeface="Yu Gothic"/>
                <a:ea typeface="Yu Gothic"/>
                <a:cs typeface="Yu Gothic"/>
              </a:defRPr>
            </a:lvl8pPr>
            <a:lvl9pPr>
              <a:defRPr sz="2100" b="1">
                <a:solidFill>
                  <a:srgbClr val="008C9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8C95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008C95"/>
                </a:solidFill>
                <a:latin typeface="Yu Gothic"/>
                <a:ea typeface="Yu Gothic"/>
                <a:cs typeface="Yu Gothic"/>
              </a:rPr>
              <a:t>対象デモに近いスキル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F2398-73B9-4579-B13F-AAF21827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defPPr>
            <a:lvl1pPr>
              <a:defRPr sz="21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1pPr>
            <a:lvl2pPr>
              <a:defRPr sz="21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2pPr>
            <a:lvl3pPr>
              <a:defRPr sz="21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3pPr>
            <a:lvl4pPr>
              <a:defRPr sz="21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4pPr>
            <a:lvl5pPr>
              <a:defRPr sz="21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5pPr>
            <a:lvl6pPr>
              <a:defRPr sz="21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6pPr>
            <a:lvl7pPr>
              <a:defRPr sz="21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7pPr>
            <a:lvl8pPr>
              <a:defRPr sz="21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8pPr>
            <a:lvl9pPr>
              <a:defRPr sz="21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72D42"/>
                </a:solidFill>
                <a:latin typeface="Yu Gothic"/>
                <a:ea typeface="Yu Gothic"/>
                <a:cs typeface="Yu Gothic"/>
              </a:rPr>
              <a:t>スキルを選ぶ方策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875FF-3C8B-45DF-A4B0-F35CC2525D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74d28f58b425b"/>
          <a:stretch xmlns:a="http://schemas.openxmlformats.org/drawingml/2006/main"/>
        </p:blipFill>
        <p:spPr>
          <a:xfrm xmlns:a="http://schemas.openxmlformats.org/drawingml/2006/main">
            <a:off x="1580943" y="2476500"/>
            <a:ext cx="8982489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A70AF-70E3-4D60-9A6A-598DA296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defPPr>
            <a:lvl1pPr>
              <a:defRPr sz="2025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1pPr>
            <a:lvl2pPr>
              <a:defRPr sz="2025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2pPr>
            <a:lvl3pPr>
              <a:defRPr sz="2025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3pPr>
            <a:lvl4pPr>
              <a:defRPr sz="2025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4pPr>
            <a:lvl5pPr>
              <a:defRPr sz="2025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5pPr>
            <a:lvl6pPr>
              <a:defRPr sz="2025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6pPr>
            <a:lvl7pPr>
              <a:defRPr sz="2025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7pPr>
            <a:lvl8pPr>
              <a:defRPr sz="2025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8pPr>
            <a:lvl9pPr>
              <a:defRPr sz="2025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72D42"/>
                </a:solidFill>
                <a:latin typeface="Yu Gothic"/>
                <a:ea typeface="Yu Gothic"/>
                <a:cs typeface="Yu Gothic"/>
              </a:rPr>
              <a:t>VAE＋時間差予測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8D421-6141-4AD9-BB0B-ADB5480E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055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8C95"/>
                </a:solidFill>
                <a:latin typeface="Yu Gothic"/>
                <a:ea typeface="Yu Gothic"/>
                <a:cs typeface="Yu Gothic"/>
              </a:defRPr>
            </a:defPPr>
            <a:lvl1pPr>
              <a:defRPr sz="2025" b="1">
                <a:solidFill>
                  <a:srgbClr val="008C95"/>
                </a:solidFill>
                <a:latin typeface="Yu Gothic"/>
                <a:ea typeface="Yu Gothic"/>
                <a:cs typeface="Yu Gothic"/>
              </a:defRPr>
            </a:lvl1pPr>
            <a:lvl2pPr>
              <a:defRPr sz="2025" b="1">
                <a:solidFill>
                  <a:srgbClr val="008C95"/>
                </a:solidFill>
                <a:latin typeface="Yu Gothic"/>
                <a:ea typeface="Yu Gothic"/>
                <a:cs typeface="Yu Gothic"/>
              </a:defRPr>
            </a:lvl2pPr>
            <a:lvl3pPr>
              <a:defRPr sz="2025" b="1">
                <a:solidFill>
                  <a:srgbClr val="008C95"/>
                </a:solidFill>
                <a:latin typeface="Yu Gothic"/>
                <a:ea typeface="Yu Gothic"/>
                <a:cs typeface="Yu Gothic"/>
              </a:defRPr>
            </a:lvl3pPr>
            <a:lvl4pPr>
              <a:defRPr sz="2025" b="1">
                <a:solidFill>
                  <a:srgbClr val="008C95"/>
                </a:solidFill>
                <a:latin typeface="Yu Gothic"/>
                <a:ea typeface="Yu Gothic"/>
                <a:cs typeface="Yu Gothic"/>
              </a:defRPr>
            </a:lvl4pPr>
            <a:lvl5pPr>
              <a:defRPr sz="2025" b="1">
                <a:solidFill>
                  <a:srgbClr val="008C95"/>
                </a:solidFill>
                <a:latin typeface="Yu Gothic"/>
                <a:ea typeface="Yu Gothic"/>
                <a:cs typeface="Yu Gothic"/>
              </a:defRPr>
            </a:lvl5pPr>
            <a:lvl6pPr>
              <a:defRPr sz="2025" b="1">
                <a:solidFill>
                  <a:srgbClr val="008C95"/>
                </a:solidFill>
                <a:latin typeface="Yu Gothic"/>
                <a:ea typeface="Yu Gothic"/>
                <a:cs typeface="Yu Gothic"/>
              </a:defRPr>
            </a:lvl6pPr>
            <a:lvl7pPr>
              <a:defRPr sz="2025" b="1">
                <a:solidFill>
                  <a:srgbClr val="008C95"/>
                </a:solidFill>
                <a:latin typeface="Yu Gothic"/>
                <a:ea typeface="Yu Gothic"/>
                <a:cs typeface="Yu Gothic"/>
              </a:defRPr>
            </a:lvl7pPr>
            <a:lvl8pPr>
              <a:defRPr sz="2025" b="1">
                <a:solidFill>
                  <a:srgbClr val="008C95"/>
                </a:solidFill>
                <a:latin typeface="Yu Gothic"/>
                <a:ea typeface="Yu Gothic"/>
                <a:cs typeface="Yu Gothic"/>
              </a:defRPr>
            </a:lvl8pPr>
            <a:lvl9pPr>
              <a:defRPr sz="2025" b="1">
                <a:solidFill>
                  <a:srgbClr val="008C9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8C95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008C95"/>
                </a:solidFill>
                <a:latin typeface="Yu Gothic"/>
                <a:ea typeface="Yu Gothic"/>
                <a:cs typeface="Yu Gothic"/>
              </a:rPr>
              <a:t>L2距離・上位n件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AF538-0DD9-4974-84B1-DE37F018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9055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defPPr>
            <a:lvl1pPr>
              <a:defRPr sz="195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1pPr>
            <a:lvl2pPr>
              <a:defRPr sz="195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2pPr>
            <a:lvl3pPr>
              <a:defRPr sz="195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3pPr>
            <a:lvl4pPr>
              <a:defRPr sz="195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4pPr>
            <a:lvl5pPr>
              <a:defRPr sz="195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5pPr>
            <a:lvl6pPr>
              <a:defRPr sz="195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6pPr>
            <a:lvl7pPr>
              <a:defRPr sz="195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7pPr>
            <a:lvl8pPr>
              <a:defRPr sz="195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8pPr>
            <a:lvl9pPr>
              <a:defRPr sz="195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D42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72D42"/>
                </a:solidFill>
                <a:latin typeface="Yu Gothic"/>
                <a:ea typeface="Yu Gothic"/>
                <a:cs typeface="Yu Gothic"/>
              </a:rPr>
              <a:t>デモ＋検索結果でBC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6A2CE-E0F7-4EC1-8DE7-7B4EFEA9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48425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727C"/>
                </a:solidFill>
                <a:latin typeface="Yu Gothic"/>
                <a:ea typeface="Yu Gothic"/>
                <a:cs typeface="Yu Gothic"/>
              </a:defRPr>
            </a:defPPr>
            <a:lvl1pPr>
              <a:defRPr sz="1200" b="0">
                <a:solidFill>
                  <a:srgbClr val="66727C"/>
                </a:solidFill>
                <a:latin typeface="Yu Gothic"/>
                <a:ea typeface="Yu Gothic"/>
                <a:cs typeface="Yu Gothic"/>
              </a:defRPr>
            </a:lvl1pPr>
            <a:lvl2pPr>
              <a:defRPr sz="1200" b="0">
                <a:solidFill>
                  <a:srgbClr val="66727C"/>
                </a:solidFill>
                <a:latin typeface="Yu Gothic"/>
                <a:ea typeface="Yu Gothic"/>
                <a:cs typeface="Yu Gothic"/>
              </a:defRPr>
            </a:lvl2pPr>
            <a:lvl3pPr>
              <a:defRPr sz="1200" b="0">
                <a:solidFill>
                  <a:srgbClr val="66727C"/>
                </a:solidFill>
                <a:latin typeface="Yu Gothic"/>
                <a:ea typeface="Yu Gothic"/>
                <a:cs typeface="Yu Gothic"/>
              </a:defRPr>
            </a:lvl3pPr>
            <a:lvl4pPr>
              <a:defRPr sz="1200" b="0">
                <a:solidFill>
                  <a:srgbClr val="66727C"/>
                </a:solidFill>
                <a:latin typeface="Yu Gothic"/>
                <a:ea typeface="Yu Gothic"/>
                <a:cs typeface="Yu Gothic"/>
              </a:defRPr>
            </a:lvl4pPr>
            <a:lvl5pPr>
              <a:defRPr sz="1200" b="0">
                <a:solidFill>
                  <a:srgbClr val="66727C"/>
                </a:solidFill>
                <a:latin typeface="Yu Gothic"/>
                <a:ea typeface="Yu Gothic"/>
                <a:cs typeface="Yu Gothic"/>
              </a:defRPr>
            </a:lvl5pPr>
            <a:lvl6pPr>
              <a:defRPr sz="1200" b="0">
                <a:solidFill>
                  <a:srgbClr val="66727C"/>
                </a:solidFill>
                <a:latin typeface="Yu Gothic"/>
                <a:ea typeface="Yu Gothic"/>
                <a:cs typeface="Yu Gothic"/>
              </a:defRPr>
            </a:lvl6pPr>
            <a:lvl7pPr>
              <a:defRPr sz="1200" b="0">
                <a:solidFill>
                  <a:srgbClr val="66727C"/>
                </a:solidFill>
                <a:latin typeface="Yu Gothic"/>
                <a:ea typeface="Yu Gothic"/>
                <a:cs typeface="Yu Gothic"/>
              </a:defRPr>
            </a:lvl7pPr>
            <a:lvl8pPr>
              <a:defRPr sz="1200" b="0">
                <a:solidFill>
                  <a:srgbClr val="66727C"/>
                </a:solidFill>
                <a:latin typeface="Yu Gothic"/>
                <a:ea typeface="Yu Gothic"/>
                <a:cs typeface="Yu Gothic"/>
              </a:defRPr>
            </a:lvl8pPr>
            <a:lvl9pPr>
              <a:defRPr sz="1200" b="0">
                <a:solidFill>
                  <a:srgbClr val="66727C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727C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727C"/>
                </a:solidFill>
                <a:latin typeface="Yu Gothic"/>
                <a:ea typeface="Yu Gothic"/>
                <a:cs typeface="Yu Gothic"/>
              </a:rPr>
              <a:t>Nasiriany et al., CoRL 2022 / PMLR 2023  Fig. 1 / §4</a:t>
            </a:r>
          </a:p>
        </p:txBody>
      </p:sp>
    </p:spTree>
    <p:extLst>
      <p:ext uri="{BB962C8B-B14F-4D97-AF65-F5344CB8AC3E}">
        <p14:creationId xmlns:p14="http://schemas.microsoft.com/office/powerpoint/2010/main" val="5996253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2026-10-18T15:59:42.7130000Z</dcterms:created>
  <dcterms:modified xsi:type="dcterms:W3CDTF">2026-10-18T15:59:42.7130000Z</dcterms:modified>
</coreProperties>
</file>