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949e0e51b6341ec" /><Relationship Type="http://schemas.openxmlformats.org/officeDocument/2006/relationships/extended-properties" Target="/docProps/app.xml" Id="Rade94c12acb441d3" /><Relationship Type="http://schemas.openxmlformats.org/officeDocument/2006/relationships/officeDocument" Target="/ppt/presentation.xml" Id="R95cf7177493b4b7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ec6dd471faf4370"/>
  </p:sldMasterIdLst>
  <p:notesMasterIdLst>
    <p:notesMasterId xmlns:r="http://schemas.openxmlformats.org/officeDocument/2006/relationships" r:id="R3a34976f00b74066"/>
  </p:notesMasterIdLst>
  <p:sldIdLst>
    <p:sldId xmlns:r="http://schemas.openxmlformats.org/officeDocument/2006/relationships" id="256" r:id="R0e92debce49b472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973aaaff73c4ac1" /><Relationship Type="http://schemas.openxmlformats.org/officeDocument/2006/relationships/slideMaster" Target="/ppt/slideMasters/slideMaster1.xml" Id="R3ec6dd471faf4370" /><Relationship Type="http://schemas.openxmlformats.org/officeDocument/2006/relationships/notesMaster" Target="/ppt/notesMasters/notesMaster1.xml" Id="R3a34976f00b74066" /><Relationship Type="http://schemas.openxmlformats.org/officeDocument/2006/relationships/presProps" Target="/ppt/presProps.xml" Id="R53f35a0e06c3420e" /><Relationship Type="http://schemas.openxmlformats.org/officeDocument/2006/relationships/tableStyles" Target="/ppt/tableStyles.xml" Id="R64d830e678ff4d05" /><Relationship Type="http://schemas.openxmlformats.org/officeDocument/2006/relationships/slide" Target="/ppt/slides/slide1.xml" Id="R0e92debce49b472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2a1c957ef0f432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ebe0f85f4b44ac3" /><Relationship Type="http://schemas.openxmlformats.org/officeDocument/2006/relationships/notesMaster" Target="/ppt/notesMasters/notesMaster1.xml" Id="R9b171c90cd244de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Behavior Retrievalは、少数の対象タスクのデモを手がかりに、大量の既存データから学習に使うデータを選ぶ模倣学習の手法です。</a:t>
            </a:r>
          </a:p>
          <a:p xmlns:a="http://schemas.openxmlformats.org/drawingml/2006/main">
            <a:r>
              <a:t>図の左では、既存の状態と行動の組を使ってVAEを学習し、比較用のベクトルを作ります。検索用の表現は状態・行動の潜在表現に元の行動も連結するため、見た目が似ていても操作方向が違うデータを区別できます。</a:t>
            </a:r>
          </a:p>
          <a:p xmlns:a="http://schemas.openxmlformats.org/drawingml/2006/main">
            <a:r>
              <a:t>中央では、対象デモも同じ表現に変換します。既存データの各組について、デモ内で最も近い組とのL2距離を求め、正規化した類似度が閾値を超えるものを選びます。別のタスクの軌道でも、共通する把持場面などを取り出せます。</a:t>
            </a:r>
          </a:p>
          <a:p xmlns:a="http://schemas.openxmlformats.org/drawingml/2006/main">
            <a:r>
              <a:t>右では、対象デモと検索結果から同数ずつサンプルし、Behavior Cloningで方策を学習します。検索は学習データの選択に使い、実行時には学習済み方策が行動します。</a:t>
            </a:r>
          </a:p>
          <a:p xmlns:a="http://schemas.openxmlformats.org/drawingml/2006/main">
            <a:r>
              <a:t>今回の研究との接点は、中央のベクトル間の距離比較です。原論文はバッチで距離を計算しており、グラフ型ANNによる高速化の有効性は示していません。また、この手法自体は報酬最大化による強化学習ではなく、模倣学習です。</a:t>
            </a:r>
          </a:p>
          <a:p xmlns:a="http://schemas.openxmlformats.org/drawingml/2006/main">
            <a:r>
              <a:t>補足：unlabeledはタスクラベルがないという意味で、行動の記録は必要です。閾値選択はtop-k検索とは異なります。</a:t>
            </a:r>
          </a:p>
          <a:p xmlns:a="http://schemas.openxmlformats.org/drawingml/2006/main">
            <a:r>
              <a:t>出典：../../raw/papers/2304.08742v2.pdf（Fig.2、§III-A〜E、Algorithm 1、Appendix A-G）。図は原論文Fig.2を抜粋。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2f206f0e5c47c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66e27bdcc747b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c7566a02354fb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5c5281a11d4d0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77b5b69e6649d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dc51f1071c466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775237C-6EB6-490F-A0BF-3D7CABA271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002D470-EE45-4385-AD5D-5AD24DAC071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30A02A2-B9EF-45BE-BD1D-4744BBD730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A13D73-4754-4C14-933A-B47AB23C52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C5CED43-E39A-496C-82CF-842BF7D4CEB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E16C6D1-C196-455C-8DB4-29BC3FDA51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BF72D37-5C86-47C9-9430-C2846A98989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7323EF3-CEC0-427C-95D9-CE3D6FA14B3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4631089-E3EA-456B-87C3-578810EC19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2E59759-E50C-457F-9036-C2DC1535A7C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88f4ddf869d4ccf" /><Relationship Type="http://schemas.openxmlformats.org/officeDocument/2006/relationships/slideLayout" Target="/ppt/slideLayouts/slideLayout1.xml" Id="R515a7189b21b4874" /><Relationship Type="http://schemas.openxmlformats.org/officeDocument/2006/relationships/slideLayout" Target="/ppt/slideLayouts/slideLayout2.xml" Id="R02bd8762f57246e0" /><Relationship Type="http://schemas.openxmlformats.org/officeDocument/2006/relationships/slideLayout" Target="/ppt/slideLayouts/slideLayout3.xml" Id="R6c791ed716644faf" /><Relationship Type="http://schemas.openxmlformats.org/officeDocument/2006/relationships/slideLayout" Target="/ppt/slideLayouts/slideLayout4.xml" Id="Re42d9efa495d411e" /><Relationship Type="http://schemas.openxmlformats.org/officeDocument/2006/relationships/slideLayout" Target="/ppt/slideLayouts/slideLayout5.xml" Id="Rbc204ee3ba904ddf" /><Relationship Type="http://schemas.openxmlformats.org/officeDocument/2006/relationships/slideLayout" Target="/ppt/slideLayouts/slideLayout6.xml" Id="R3f9617f682974df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5a7189b21b4874"/>
    <p:sldLayoutId xmlns:r="http://schemas.openxmlformats.org/officeDocument/2006/relationships" id="2147483650" r:id="R02bd8762f57246e0"/>
    <p:sldLayoutId xmlns:r="http://schemas.openxmlformats.org/officeDocument/2006/relationships" id="2147483651" r:id="R6c791ed716644faf"/>
    <p:sldLayoutId xmlns:r="http://schemas.openxmlformats.org/officeDocument/2006/relationships" id="2147483652" r:id="Re42d9efa495d411e"/>
    <p:sldLayoutId xmlns:r="http://schemas.openxmlformats.org/officeDocument/2006/relationships" id="2147483653" r:id="Rbc204ee3ba904ddf"/>
    <p:sldLayoutId xmlns:r="http://schemas.openxmlformats.org/officeDocument/2006/relationships" id="2147483654" r:id="R3f9617f682974df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c66c49757f4013" /><Relationship Type="http://schemas.openxmlformats.org/officeDocument/2006/relationships/image" Target="/ppt/media/image.png" Id="Rd22d09e5f257452d" /><Relationship Type="http://schemas.openxmlformats.org/officeDocument/2006/relationships/notesSlide" Target="/ppt/notesSlides/notesSlide1.xml" Id="Re720fb5d17ec402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967D8A-B2A1-42C2-9F19-2CE275615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defPPr>
            <a:lvl1pPr>
              <a:defRPr sz="360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1pPr>
            <a:lvl2pPr>
              <a:defRPr sz="360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2pPr>
            <a:lvl3pPr>
              <a:defRPr sz="360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3pPr>
            <a:lvl4pPr>
              <a:defRPr sz="360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4pPr>
            <a:lvl5pPr>
              <a:defRPr sz="360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5pPr>
            <a:lvl6pPr>
              <a:defRPr sz="360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6pPr>
            <a:lvl7pPr>
              <a:defRPr sz="360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7pPr>
            <a:lvl8pPr>
              <a:defRPr sz="360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8pPr>
            <a:lvl9pPr>
              <a:defRPr sz="360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pPr>
            <a:r>
              <a:rPr sz="3600" b="1">
                <a:solidFill>
                  <a:srgbClr val="172D42"/>
                </a:solidFill>
                <a:latin typeface="Yu Gothic"/>
                <a:ea typeface="Yu Gothic"/>
                <a:cs typeface="Yu Gothic"/>
              </a:rPr>
              <a:t>Behavior Retrieval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7C08DB-7A9A-4B0A-B30F-6858009E5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2870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defPPr>
            <a:lvl1pPr>
              <a:defRPr sz="240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1pPr>
            <a:lvl2pPr>
              <a:defRPr sz="240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2pPr>
            <a:lvl3pPr>
              <a:defRPr sz="240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3pPr>
            <a:lvl4pPr>
              <a:defRPr sz="240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4pPr>
            <a:lvl5pPr>
              <a:defRPr sz="240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5pPr>
            <a:lvl6pPr>
              <a:defRPr sz="240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6pPr>
            <a:lvl7pPr>
              <a:defRPr sz="240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7pPr>
            <a:lvl8pPr>
              <a:defRPr sz="240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8pPr>
            <a:lvl9pPr>
              <a:defRPr sz="240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pPr>
            <a:r>
              <a:rPr sz="2400" b="1">
                <a:solidFill>
                  <a:srgbClr val="172D42"/>
                </a:solidFill>
                <a:latin typeface="Yu Gothic"/>
                <a:ea typeface="Yu Gothic"/>
                <a:cs typeface="Yu Gothic"/>
              </a:rPr>
              <a:t>少数デモを手がかりにした学習データ選択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20CCB9-2214-4549-A678-4B95E651F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66900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defPPr>
            <a:lvl1pPr>
              <a:defRPr sz="2025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1pPr>
            <a:lvl2pPr>
              <a:defRPr sz="2025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2pPr>
            <a:lvl3pPr>
              <a:defRPr sz="2025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3pPr>
            <a:lvl4pPr>
              <a:defRPr sz="2025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4pPr>
            <a:lvl5pPr>
              <a:defRPr sz="2025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5pPr>
            <a:lvl6pPr>
              <a:defRPr sz="2025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6pPr>
            <a:lvl7pPr>
              <a:defRPr sz="2025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7pPr>
            <a:lvl8pPr>
              <a:defRPr sz="2025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8pPr>
            <a:lvl9pPr>
              <a:defRPr sz="2025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72D42"/>
                </a:solidFill>
                <a:latin typeface="Yu Gothic"/>
                <a:ea typeface="Yu Gothic"/>
                <a:cs typeface="Yu Gothic"/>
              </a:rPr>
              <a:t>既存の状態・行動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D07F38-96D7-471E-8FD7-AF3A5F3D6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866900"/>
            <a:ext cx="3524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008C95"/>
                </a:solidFill>
                <a:latin typeface="Yu Gothic"/>
                <a:ea typeface="Yu Gothic"/>
                <a:cs typeface="Yu Gothic"/>
              </a:defRPr>
            </a:defPPr>
            <a:lvl1pPr>
              <a:defRPr sz="2025" b="1">
                <a:solidFill>
                  <a:srgbClr val="008C95"/>
                </a:solidFill>
                <a:latin typeface="Yu Gothic"/>
                <a:ea typeface="Yu Gothic"/>
                <a:cs typeface="Yu Gothic"/>
              </a:defRPr>
            </a:lvl1pPr>
            <a:lvl2pPr>
              <a:defRPr sz="2025" b="1">
                <a:solidFill>
                  <a:srgbClr val="008C95"/>
                </a:solidFill>
                <a:latin typeface="Yu Gothic"/>
                <a:ea typeface="Yu Gothic"/>
                <a:cs typeface="Yu Gothic"/>
              </a:defRPr>
            </a:lvl2pPr>
            <a:lvl3pPr>
              <a:defRPr sz="2025" b="1">
                <a:solidFill>
                  <a:srgbClr val="008C95"/>
                </a:solidFill>
                <a:latin typeface="Yu Gothic"/>
                <a:ea typeface="Yu Gothic"/>
                <a:cs typeface="Yu Gothic"/>
              </a:defRPr>
            </a:lvl3pPr>
            <a:lvl4pPr>
              <a:defRPr sz="2025" b="1">
                <a:solidFill>
                  <a:srgbClr val="008C95"/>
                </a:solidFill>
                <a:latin typeface="Yu Gothic"/>
                <a:ea typeface="Yu Gothic"/>
                <a:cs typeface="Yu Gothic"/>
              </a:defRPr>
            </a:lvl4pPr>
            <a:lvl5pPr>
              <a:defRPr sz="2025" b="1">
                <a:solidFill>
                  <a:srgbClr val="008C95"/>
                </a:solidFill>
                <a:latin typeface="Yu Gothic"/>
                <a:ea typeface="Yu Gothic"/>
                <a:cs typeface="Yu Gothic"/>
              </a:defRPr>
            </a:lvl5pPr>
            <a:lvl6pPr>
              <a:defRPr sz="2025" b="1">
                <a:solidFill>
                  <a:srgbClr val="008C95"/>
                </a:solidFill>
                <a:latin typeface="Yu Gothic"/>
                <a:ea typeface="Yu Gothic"/>
                <a:cs typeface="Yu Gothic"/>
              </a:defRPr>
            </a:lvl6pPr>
            <a:lvl7pPr>
              <a:defRPr sz="2025" b="1">
                <a:solidFill>
                  <a:srgbClr val="008C95"/>
                </a:solidFill>
                <a:latin typeface="Yu Gothic"/>
                <a:ea typeface="Yu Gothic"/>
                <a:cs typeface="Yu Gothic"/>
              </a:defRPr>
            </a:lvl7pPr>
            <a:lvl8pPr>
              <a:defRPr sz="2025" b="1">
                <a:solidFill>
                  <a:srgbClr val="008C95"/>
                </a:solidFill>
                <a:latin typeface="Yu Gothic"/>
                <a:ea typeface="Yu Gothic"/>
                <a:cs typeface="Yu Gothic"/>
              </a:defRPr>
            </a:lvl8pPr>
            <a:lvl9pPr>
              <a:defRPr sz="2025" b="1">
                <a:solidFill>
                  <a:srgbClr val="008C9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08C95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008C95"/>
                </a:solidFill>
                <a:latin typeface="Yu Gothic"/>
                <a:ea typeface="Yu Gothic"/>
                <a:cs typeface="Yu Gothic"/>
              </a:rPr>
              <a:t>少数の対象デモ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BDF9AF-74CB-460F-A1CF-0B7E111D099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2d09e5f257452d"/>
          <a:stretch xmlns:a="http://schemas.openxmlformats.org/drawingml/2006/main"/>
        </p:blipFill>
        <p:spPr>
          <a:xfrm xmlns:a="http://schemas.openxmlformats.org/drawingml/2006/main">
            <a:off x="590550" y="2362667"/>
            <a:ext cx="11001375" cy="3523316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EFF5B3-4989-45EB-9BF2-A187DB581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1025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defPPr>
            <a:lvl1pPr>
              <a:defRPr sz="2025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1pPr>
            <a:lvl2pPr>
              <a:defRPr sz="2025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2pPr>
            <a:lvl3pPr>
              <a:defRPr sz="2025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3pPr>
            <a:lvl4pPr>
              <a:defRPr sz="2025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4pPr>
            <a:lvl5pPr>
              <a:defRPr sz="2025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5pPr>
            <a:lvl6pPr>
              <a:defRPr sz="2025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6pPr>
            <a:lvl7pPr>
              <a:defRPr sz="2025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7pPr>
            <a:lvl8pPr>
              <a:defRPr sz="2025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8pPr>
            <a:lvl9pPr>
              <a:defRPr sz="2025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72D42"/>
                </a:solidFill>
                <a:latin typeface="Yu Gothic"/>
                <a:ea typeface="Yu Gothic"/>
                <a:cs typeface="Yu Gothic"/>
              </a:rPr>
              <a:t>VAEによる埋め込み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53A13A-068F-4B7D-B90A-F01A8F224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025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008C95"/>
                </a:solidFill>
                <a:latin typeface="Yu Gothic"/>
                <a:ea typeface="Yu Gothic"/>
                <a:cs typeface="Yu Gothic"/>
              </a:defRPr>
            </a:defPPr>
            <a:lvl1pPr>
              <a:defRPr sz="2025" b="1">
                <a:solidFill>
                  <a:srgbClr val="008C95"/>
                </a:solidFill>
                <a:latin typeface="Yu Gothic"/>
                <a:ea typeface="Yu Gothic"/>
                <a:cs typeface="Yu Gothic"/>
              </a:defRPr>
            </a:lvl1pPr>
            <a:lvl2pPr>
              <a:defRPr sz="2025" b="1">
                <a:solidFill>
                  <a:srgbClr val="008C95"/>
                </a:solidFill>
                <a:latin typeface="Yu Gothic"/>
                <a:ea typeface="Yu Gothic"/>
                <a:cs typeface="Yu Gothic"/>
              </a:defRPr>
            </a:lvl2pPr>
            <a:lvl3pPr>
              <a:defRPr sz="2025" b="1">
                <a:solidFill>
                  <a:srgbClr val="008C95"/>
                </a:solidFill>
                <a:latin typeface="Yu Gothic"/>
                <a:ea typeface="Yu Gothic"/>
                <a:cs typeface="Yu Gothic"/>
              </a:defRPr>
            </a:lvl3pPr>
            <a:lvl4pPr>
              <a:defRPr sz="2025" b="1">
                <a:solidFill>
                  <a:srgbClr val="008C95"/>
                </a:solidFill>
                <a:latin typeface="Yu Gothic"/>
                <a:ea typeface="Yu Gothic"/>
                <a:cs typeface="Yu Gothic"/>
              </a:defRPr>
            </a:lvl4pPr>
            <a:lvl5pPr>
              <a:defRPr sz="2025" b="1">
                <a:solidFill>
                  <a:srgbClr val="008C95"/>
                </a:solidFill>
                <a:latin typeface="Yu Gothic"/>
                <a:ea typeface="Yu Gothic"/>
                <a:cs typeface="Yu Gothic"/>
              </a:defRPr>
            </a:lvl5pPr>
            <a:lvl6pPr>
              <a:defRPr sz="2025" b="1">
                <a:solidFill>
                  <a:srgbClr val="008C95"/>
                </a:solidFill>
                <a:latin typeface="Yu Gothic"/>
                <a:ea typeface="Yu Gothic"/>
                <a:cs typeface="Yu Gothic"/>
              </a:defRPr>
            </a:lvl6pPr>
            <a:lvl7pPr>
              <a:defRPr sz="2025" b="1">
                <a:solidFill>
                  <a:srgbClr val="008C95"/>
                </a:solidFill>
                <a:latin typeface="Yu Gothic"/>
                <a:ea typeface="Yu Gothic"/>
                <a:cs typeface="Yu Gothic"/>
              </a:defRPr>
            </a:lvl7pPr>
            <a:lvl8pPr>
              <a:defRPr sz="2025" b="1">
                <a:solidFill>
                  <a:srgbClr val="008C95"/>
                </a:solidFill>
                <a:latin typeface="Yu Gothic"/>
                <a:ea typeface="Yu Gothic"/>
                <a:cs typeface="Yu Gothic"/>
              </a:defRPr>
            </a:lvl8pPr>
            <a:lvl9pPr>
              <a:defRPr sz="2025" b="1">
                <a:solidFill>
                  <a:srgbClr val="008C9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08C95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008C95"/>
                </a:solidFill>
                <a:latin typeface="Yu Gothic"/>
                <a:ea typeface="Yu Gothic"/>
                <a:cs typeface="Yu Gothic"/>
              </a:rPr>
              <a:t>L2距離・閾値選択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CA58CF-73ED-49DD-8257-03954E30C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8102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defPPr>
            <a:lvl1pPr>
              <a:defRPr sz="195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1pPr>
            <a:lvl2pPr>
              <a:defRPr sz="195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2pPr>
            <a:lvl3pPr>
              <a:defRPr sz="195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3pPr>
            <a:lvl4pPr>
              <a:defRPr sz="195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4pPr>
            <a:lvl5pPr>
              <a:defRPr sz="195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5pPr>
            <a:lvl6pPr>
              <a:defRPr sz="195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6pPr>
            <a:lvl7pPr>
              <a:defRPr sz="195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7pPr>
            <a:lvl8pPr>
              <a:defRPr sz="195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8pPr>
            <a:lvl9pPr>
              <a:defRPr sz="195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172D42"/>
                </a:solidFill>
                <a:latin typeface="Yu Gothic"/>
                <a:ea typeface="Yu Gothic"/>
                <a:cs typeface="Yu Gothic"/>
              </a:defRPr>
            </a:pPr>
            <a:r>
              <a:rPr sz="1950" b="1">
                <a:solidFill>
                  <a:srgbClr val="172D42"/>
                </a:solidFill>
                <a:latin typeface="Yu Gothic"/>
                <a:ea typeface="Yu Gothic"/>
                <a:cs typeface="Yu Gothic"/>
              </a:rPr>
              <a:t>デモ＋検索結果でBC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648D01-2F60-4A87-9C85-D2B51A10C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38900"/>
            <a:ext cx="10953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6727C"/>
                </a:solidFill>
                <a:latin typeface="Yu Gothic"/>
                <a:ea typeface="Yu Gothic"/>
                <a:cs typeface="Yu Gothic"/>
              </a:defRPr>
            </a:defPPr>
            <a:lvl1pPr>
              <a:defRPr sz="1200" b="0">
                <a:solidFill>
                  <a:srgbClr val="66727C"/>
                </a:solidFill>
                <a:latin typeface="Yu Gothic"/>
                <a:ea typeface="Yu Gothic"/>
                <a:cs typeface="Yu Gothic"/>
              </a:defRPr>
            </a:lvl1pPr>
            <a:lvl2pPr>
              <a:defRPr sz="1200" b="0">
                <a:solidFill>
                  <a:srgbClr val="66727C"/>
                </a:solidFill>
                <a:latin typeface="Yu Gothic"/>
                <a:ea typeface="Yu Gothic"/>
                <a:cs typeface="Yu Gothic"/>
              </a:defRPr>
            </a:lvl2pPr>
            <a:lvl3pPr>
              <a:defRPr sz="1200" b="0">
                <a:solidFill>
                  <a:srgbClr val="66727C"/>
                </a:solidFill>
                <a:latin typeface="Yu Gothic"/>
                <a:ea typeface="Yu Gothic"/>
                <a:cs typeface="Yu Gothic"/>
              </a:defRPr>
            </a:lvl3pPr>
            <a:lvl4pPr>
              <a:defRPr sz="1200" b="0">
                <a:solidFill>
                  <a:srgbClr val="66727C"/>
                </a:solidFill>
                <a:latin typeface="Yu Gothic"/>
                <a:ea typeface="Yu Gothic"/>
                <a:cs typeface="Yu Gothic"/>
              </a:defRPr>
            </a:lvl4pPr>
            <a:lvl5pPr>
              <a:defRPr sz="1200" b="0">
                <a:solidFill>
                  <a:srgbClr val="66727C"/>
                </a:solidFill>
                <a:latin typeface="Yu Gothic"/>
                <a:ea typeface="Yu Gothic"/>
                <a:cs typeface="Yu Gothic"/>
              </a:defRPr>
            </a:lvl5pPr>
            <a:lvl6pPr>
              <a:defRPr sz="1200" b="0">
                <a:solidFill>
                  <a:srgbClr val="66727C"/>
                </a:solidFill>
                <a:latin typeface="Yu Gothic"/>
                <a:ea typeface="Yu Gothic"/>
                <a:cs typeface="Yu Gothic"/>
              </a:defRPr>
            </a:lvl6pPr>
            <a:lvl7pPr>
              <a:defRPr sz="1200" b="0">
                <a:solidFill>
                  <a:srgbClr val="66727C"/>
                </a:solidFill>
                <a:latin typeface="Yu Gothic"/>
                <a:ea typeface="Yu Gothic"/>
                <a:cs typeface="Yu Gothic"/>
              </a:defRPr>
            </a:lvl7pPr>
            <a:lvl8pPr>
              <a:defRPr sz="1200" b="0">
                <a:solidFill>
                  <a:srgbClr val="66727C"/>
                </a:solidFill>
                <a:latin typeface="Yu Gothic"/>
                <a:ea typeface="Yu Gothic"/>
                <a:cs typeface="Yu Gothic"/>
              </a:defRPr>
            </a:lvl8pPr>
            <a:lvl9pPr>
              <a:defRPr sz="1200" b="0">
                <a:solidFill>
                  <a:srgbClr val="66727C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27C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66727C"/>
                </a:solidFill>
                <a:latin typeface="Yu Gothic"/>
                <a:ea typeface="Yu Gothic"/>
                <a:cs typeface="Yu Gothic"/>
              </a:rPr>
              <a:t>Du et al., 2023  Fig. 2 / §III</a:t>
            </a:r>
          </a:p>
        </p:txBody>
      </p:sp>
    </p:spTree>
    <p:extLst>
      <p:ext uri="{BB962C8B-B14F-4D97-AF65-F5344CB8AC3E}">
        <p14:creationId xmlns:p14="http://schemas.microsoft.com/office/powerpoint/2010/main" val="16824066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2026-10-18T15:55:06.1060000Z</dcterms:created>
  <dcterms:modified xsi:type="dcterms:W3CDTF">2026-10-18T15:55:06.1060000Z</dcterms:modified>
</coreProperties>
</file>