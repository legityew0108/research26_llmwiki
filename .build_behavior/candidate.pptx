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c790c92ec24129" /><Relationship Type="http://schemas.openxmlformats.org/officeDocument/2006/relationships/extended-properties" Target="/docProps/app.xml" Id="R8674f8067fc742c4" /><Relationship Type="http://schemas.openxmlformats.org/officeDocument/2006/relationships/officeDocument" Target="/ppt/presentation.xml" Id="Rc2ce7d3ceab942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9e4ea273114db9"/>
  </p:sldMasterIdLst>
  <p:notesMasterIdLst>
    <p:notesMasterId xmlns:r="http://schemas.openxmlformats.org/officeDocument/2006/relationships" r:id="Rafc515d0ae394fb4"/>
  </p:notesMasterIdLst>
  <p:sldIdLst>
    <p:sldId xmlns:r="http://schemas.openxmlformats.org/officeDocument/2006/relationships" id="256" r:id="R239a642672e841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e5d7e104694c22" /><Relationship Type="http://schemas.openxmlformats.org/officeDocument/2006/relationships/slideMaster" Target="/ppt/slideMasters/slideMaster1.xml" Id="R719e4ea273114db9" /><Relationship Type="http://schemas.openxmlformats.org/officeDocument/2006/relationships/notesMaster" Target="/ppt/notesMasters/notesMaster1.xml" Id="Rafc515d0ae394fb4" /><Relationship Type="http://schemas.openxmlformats.org/officeDocument/2006/relationships/presProps" Target="/ppt/presProps.xml" Id="Rf32b689cb5c04649" /><Relationship Type="http://schemas.openxmlformats.org/officeDocument/2006/relationships/tableStyles" Target="/ppt/tableStyles.xml" Id="Rd934723e52784c20" /><Relationship Type="http://schemas.openxmlformats.org/officeDocument/2006/relationships/slide" Target="/ppt/slides/slide1.xml" Id="R239a642672e841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de03797a72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df0da068744beb" /><Relationship Type="http://schemas.openxmlformats.org/officeDocument/2006/relationships/notesMaster" Target="/ppt/notesMasters/notesMaster1.xml" Id="Rfc95cf600f354f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Behavior Retrievalは、少数の対象タスクのデモを手がかりに、大量の既存データから学習に使うデータを選ぶ模倣学習の手法です。</a:t>
            </a:r>
          </a:p>
          <a:p xmlns:a="http://schemas.openxmlformats.org/drawingml/2006/main">
            <a:r>
              <a:t>図の左では、既存の状態と行動の組を使ってVAEを学習し、比較用のベクトルを作ります。検索用の表現は状態・行動の潜在表現に元の行動も連結するため、見た目が似ていても操作方向が違うデータを区別できます。</a:t>
            </a:r>
          </a:p>
          <a:p xmlns:a="http://schemas.openxmlformats.org/drawingml/2006/main">
            <a:r>
              <a:t>中央では、対象デモも同じ表現に変換します。既存データの各組について、デモ内で最も近い組とのL2距離を求め、正規化した類似度が閾値を超えるものを選びます。別のタスクの軌道でも、共通する把持場面などを取り出せます。</a:t>
            </a:r>
          </a:p>
          <a:p xmlns:a="http://schemas.openxmlformats.org/drawingml/2006/main">
            <a:r>
              <a:t>右では、対象デモと検索結果から同数ずつサンプルし、Behavior Cloningで方策を学習します。検索は学習データの選択に使い、実行時には学習済み方策が行動します。</a:t>
            </a:r>
          </a:p>
          <a:p xmlns:a="http://schemas.openxmlformats.org/drawingml/2006/main">
            <a:r>
              <a:t>今回の研究との接点は、中央のベクトル間の距離比較です。原論文はバッチで距離を計算しており、グラフ型ANNによる高速化の有効性は示していません。また、この手法自体は報酬最大化による強化学習ではなく、模倣学習です。</a:t>
            </a:r>
          </a:p>
          <a:p xmlns:a="http://schemas.openxmlformats.org/drawingml/2006/main">
            <a:r>
              <a:t>補足：unlabeledはタスクラベルがないという意味で、行動の記録は必要です。閾値選択はtop-k検索とは異なります。</a:t>
            </a:r>
          </a:p>
          <a:p xmlns:a="http://schemas.openxmlformats.org/drawingml/2006/main">
            <a:r>
              <a:t>出典：../../raw/papers/2304.08742v2.pdf（Fig.2、§III-A〜E、Algorithm 1、Appendix A-G）。図は原論文Fig.2を抜粋。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05067d82243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44f7c5c1c4c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2aba529c841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0d307784241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24adeff7a4a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2441faa4e42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DBD214-B6AF-4DC1-847C-A7EF3ED5DC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25666B-09DD-4C33-898D-713CAE5C57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312780-CEE6-4E97-B3E7-2D0DE8C39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4109B8-8A54-44DB-93FF-5353033E6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5C10EE-1656-4BF5-A8C2-D558B05D09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B5676C-DAD9-4751-A5B8-B8C5B679F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020216-5F5E-4CA6-9E8A-32D7CF3715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2165BC-6588-4CE3-8016-3CAF89E5B0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74DED1-91D5-4EF6-B6D1-4AE8DF7EF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A3F669-6828-45BC-8030-998A6C6B6B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4d18e3ad5048b3" /><Relationship Type="http://schemas.openxmlformats.org/officeDocument/2006/relationships/slideLayout" Target="/ppt/slideLayouts/slideLayout1.xml" Id="Rc4141b4834e14846" /><Relationship Type="http://schemas.openxmlformats.org/officeDocument/2006/relationships/slideLayout" Target="/ppt/slideLayouts/slideLayout2.xml" Id="R2120b422b43a4507" /><Relationship Type="http://schemas.openxmlformats.org/officeDocument/2006/relationships/slideLayout" Target="/ppt/slideLayouts/slideLayout3.xml" Id="Rde881fb344564c17" /><Relationship Type="http://schemas.openxmlformats.org/officeDocument/2006/relationships/slideLayout" Target="/ppt/slideLayouts/slideLayout4.xml" Id="Re69ab1c51ef0477a" /><Relationship Type="http://schemas.openxmlformats.org/officeDocument/2006/relationships/slideLayout" Target="/ppt/slideLayouts/slideLayout5.xml" Id="R1f5a23da90a6477e" /><Relationship Type="http://schemas.openxmlformats.org/officeDocument/2006/relationships/slideLayout" Target="/ppt/slideLayouts/slideLayout6.xml" Id="Rb7ed5b0d690f4f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141b4834e14846"/>
    <p:sldLayoutId xmlns:r="http://schemas.openxmlformats.org/officeDocument/2006/relationships" id="2147483650" r:id="R2120b422b43a4507"/>
    <p:sldLayoutId xmlns:r="http://schemas.openxmlformats.org/officeDocument/2006/relationships" id="2147483651" r:id="Rde881fb344564c17"/>
    <p:sldLayoutId xmlns:r="http://schemas.openxmlformats.org/officeDocument/2006/relationships" id="2147483652" r:id="Re69ab1c51ef0477a"/>
    <p:sldLayoutId xmlns:r="http://schemas.openxmlformats.org/officeDocument/2006/relationships" id="2147483653" r:id="R1f5a23da90a6477e"/>
    <p:sldLayoutId xmlns:r="http://schemas.openxmlformats.org/officeDocument/2006/relationships" id="2147483654" r:id="Rb7ed5b0d690f4f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c3743d61a45c0" /><Relationship Type="http://schemas.openxmlformats.org/officeDocument/2006/relationships/image" Target="/ppt/media/image.png" Id="Raf013f10e84f497c" /><Relationship Type="http://schemas.openxmlformats.org/officeDocument/2006/relationships/notesSlide" Target="/ppt/notesSlides/notesSlide1.xml" Id="Rf45500946b9747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81CFB-7B37-4377-BAA3-AD1BBADF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D42"/>
                </a:solidFill>
              </a:defRPr>
            </a:defPPr>
            <a:lvl1pPr>
              <a:defRPr sz="3600" b="1">
                <a:solidFill>
                  <a:srgbClr val="172D42"/>
                </a:solidFill>
              </a:defRPr>
            </a:lvl1pPr>
            <a:lvl2pPr>
              <a:defRPr sz="3600" b="1">
                <a:solidFill>
                  <a:srgbClr val="172D42"/>
                </a:solidFill>
              </a:defRPr>
            </a:lvl2pPr>
            <a:lvl3pPr>
              <a:defRPr sz="3600" b="1">
                <a:solidFill>
                  <a:srgbClr val="172D42"/>
                </a:solidFill>
              </a:defRPr>
            </a:lvl3pPr>
            <a:lvl4pPr>
              <a:defRPr sz="3600" b="1">
                <a:solidFill>
                  <a:srgbClr val="172D42"/>
                </a:solidFill>
              </a:defRPr>
            </a:lvl4pPr>
            <a:lvl5pPr>
              <a:defRPr sz="3600" b="1">
                <a:solidFill>
                  <a:srgbClr val="172D42"/>
                </a:solidFill>
              </a:defRPr>
            </a:lvl5pPr>
            <a:lvl6pPr>
              <a:defRPr sz="3600" b="1">
                <a:solidFill>
                  <a:srgbClr val="172D42"/>
                </a:solidFill>
              </a:defRPr>
            </a:lvl6pPr>
            <a:lvl7pPr>
              <a:defRPr sz="3600" b="1">
                <a:solidFill>
                  <a:srgbClr val="172D42"/>
                </a:solidFill>
              </a:defRPr>
            </a:lvl7pPr>
            <a:lvl8pPr>
              <a:defRPr sz="3600" b="1">
                <a:solidFill>
                  <a:srgbClr val="172D42"/>
                </a:solidFill>
              </a:defRPr>
            </a:lvl8pPr>
            <a:lvl9pPr>
              <a:defRPr sz="3600" b="1">
                <a:solidFill>
                  <a:srgbClr val="172D42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D42"/>
                </a:solidFill>
              </a:defRPr>
            </a:pPr>
            <a:r>
              <a:rPr sz="3600" b="1">
                <a:solidFill>
                  <a:srgbClr val="172D42"/>
                </a:solidFill>
              </a:rPr>
              <a:t>Behavior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33E00-D83E-47ED-9FC4-1B2087BE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D42"/>
                </a:solidFill>
              </a:defRPr>
            </a:defPPr>
            <a:lvl1pPr>
              <a:defRPr sz="2400" b="1">
                <a:solidFill>
                  <a:srgbClr val="172D42"/>
                </a:solidFill>
              </a:defRPr>
            </a:lvl1pPr>
            <a:lvl2pPr>
              <a:defRPr sz="2400" b="1">
                <a:solidFill>
                  <a:srgbClr val="172D42"/>
                </a:solidFill>
              </a:defRPr>
            </a:lvl2pPr>
            <a:lvl3pPr>
              <a:defRPr sz="2400" b="1">
                <a:solidFill>
                  <a:srgbClr val="172D42"/>
                </a:solidFill>
              </a:defRPr>
            </a:lvl3pPr>
            <a:lvl4pPr>
              <a:defRPr sz="2400" b="1">
                <a:solidFill>
                  <a:srgbClr val="172D42"/>
                </a:solidFill>
              </a:defRPr>
            </a:lvl4pPr>
            <a:lvl5pPr>
              <a:defRPr sz="2400" b="1">
                <a:solidFill>
                  <a:srgbClr val="172D42"/>
                </a:solidFill>
              </a:defRPr>
            </a:lvl5pPr>
            <a:lvl6pPr>
              <a:defRPr sz="2400" b="1">
                <a:solidFill>
                  <a:srgbClr val="172D42"/>
                </a:solidFill>
              </a:defRPr>
            </a:lvl6pPr>
            <a:lvl7pPr>
              <a:defRPr sz="2400" b="1">
                <a:solidFill>
                  <a:srgbClr val="172D42"/>
                </a:solidFill>
              </a:defRPr>
            </a:lvl7pPr>
            <a:lvl8pPr>
              <a:defRPr sz="2400" b="1">
                <a:solidFill>
                  <a:srgbClr val="172D42"/>
                </a:solidFill>
              </a:defRPr>
            </a:lvl8pPr>
            <a:lvl9pPr>
              <a:defRPr sz="2400" b="1">
                <a:solidFill>
                  <a:srgbClr val="172D42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D42"/>
                </a:solidFill>
              </a:defRPr>
            </a:pPr>
            <a:r>
              <a:rPr sz="2400" b="1">
                <a:solidFill>
                  <a:srgbClr val="172D42"/>
                </a:solidFill>
              </a:rPr>
              <a:t>少数デモを手がかりにした学習データ選択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78327-8E94-4C54-BAC3-26FB0609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D42"/>
                </a:solidFill>
              </a:defRPr>
            </a:defPPr>
            <a:lvl1pPr>
              <a:defRPr sz="2025" b="1">
                <a:solidFill>
                  <a:srgbClr val="172D42"/>
                </a:solidFill>
              </a:defRPr>
            </a:lvl1pPr>
            <a:lvl2pPr>
              <a:defRPr sz="2025" b="1">
                <a:solidFill>
                  <a:srgbClr val="172D42"/>
                </a:solidFill>
              </a:defRPr>
            </a:lvl2pPr>
            <a:lvl3pPr>
              <a:defRPr sz="2025" b="1">
                <a:solidFill>
                  <a:srgbClr val="172D42"/>
                </a:solidFill>
              </a:defRPr>
            </a:lvl3pPr>
            <a:lvl4pPr>
              <a:defRPr sz="2025" b="1">
                <a:solidFill>
                  <a:srgbClr val="172D42"/>
                </a:solidFill>
              </a:defRPr>
            </a:lvl4pPr>
            <a:lvl5pPr>
              <a:defRPr sz="2025" b="1">
                <a:solidFill>
                  <a:srgbClr val="172D42"/>
                </a:solidFill>
              </a:defRPr>
            </a:lvl5pPr>
            <a:lvl6pPr>
              <a:defRPr sz="2025" b="1">
                <a:solidFill>
                  <a:srgbClr val="172D42"/>
                </a:solidFill>
              </a:defRPr>
            </a:lvl6pPr>
            <a:lvl7pPr>
              <a:defRPr sz="2025" b="1">
                <a:solidFill>
                  <a:srgbClr val="172D42"/>
                </a:solidFill>
              </a:defRPr>
            </a:lvl7pPr>
            <a:lvl8pPr>
              <a:defRPr sz="2025" b="1">
                <a:solidFill>
                  <a:srgbClr val="172D42"/>
                </a:solidFill>
              </a:defRPr>
            </a:lvl8pPr>
            <a:lvl9pPr>
              <a:defRPr sz="2025" b="1">
                <a:solidFill>
                  <a:srgbClr val="172D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D42"/>
                </a:solidFill>
              </a:defRPr>
            </a:pPr>
            <a:r>
              <a:rPr sz="2025" b="1">
                <a:solidFill>
                  <a:srgbClr val="172D42"/>
                </a:solidFill>
              </a:rPr>
              <a:t>既存の状態・行動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ECE4C-D437-4019-97F9-A77A82D8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669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8C95"/>
                </a:solidFill>
              </a:defRPr>
            </a:defPPr>
            <a:lvl1pPr>
              <a:defRPr sz="2025" b="1">
                <a:solidFill>
                  <a:srgbClr val="008C95"/>
                </a:solidFill>
              </a:defRPr>
            </a:lvl1pPr>
            <a:lvl2pPr>
              <a:defRPr sz="2025" b="1">
                <a:solidFill>
                  <a:srgbClr val="008C95"/>
                </a:solidFill>
              </a:defRPr>
            </a:lvl2pPr>
            <a:lvl3pPr>
              <a:defRPr sz="2025" b="1">
                <a:solidFill>
                  <a:srgbClr val="008C95"/>
                </a:solidFill>
              </a:defRPr>
            </a:lvl3pPr>
            <a:lvl4pPr>
              <a:defRPr sz="2025" b="1">
                <a:solidFill>
                  <a:srgbClr val="008C95"/>
                </a:solidFill>
              </a:defRPr>
            </a:lvl4pPr>
            <a:lvl5pPr>
              <a:defRPr sz="2025" b="1">
                <a:solidFill>
                  <a:srgbClr val="008C95"/>
                </a:solidFill>
              </a:defRPr>
            </a:lvl5pPr>
            <a:lvl6pPr>
              <a:defRPr sz="2025" b="1">
                <a:solidFill>
                  <a:srgbClr val="008C95"/>
                </a:solidFill>
              </a:defRPr>
            </a:lvl6pPr>
            <a:lvl7pPr>
              <a:defRPr sz="2025" b="1">
                <a:solidFill>
                  <a:srgbClr val="008C95"/>
                </a:solidFill>
              </a:defRPr>
            </a:lvl7pPr>
            <a:lvl8pPr>
              <a:defRPr sz="2025" b="1">
                <a:solidFill>
                  <a:srgbClr val="008C95"/>
                </a:solidFill>
              </a:defRPr>
            </a:lvl8pPr>
            <a:lvl9pPr>
              <a:defRPr sz="2025" b="1">
                <a:solidFill>
                  <a:srgbClr val="008C9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8C95"/>
                </a:solidFill>
              </a:defRPr>
            </a:pPr>
            <a:r>
              <a:rPr sz="2025" b="1">
                <a:solidFill>
                  <a:srgbClr val="008C95"/>
                </a:solidFill>
              </a:rPr>
              <a:t>少数の対象デモ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E93A7-5B73-4204-8B04-92379724A0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13f10e84f497c"/>
          <a:stretch xmlns:a="http://schemas.openxmlformats.org/drawingml/2006/main"/>
        </p:blipFill>
        <p:spPr>
          <a:xfrm xmlns:a="http://schemas.openxmlformats.org/drawingml/2006/main">
            <a:off x="590550" y="2362667"/>
            <a:ext cx="11001375" cy="35233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18C94-6463-4250-93A7-2292A804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D42"/>
                </a:solidFill>
              </a:defRPr>
            </a:defPPr>
            <a:lvl1pPr>
              <a:defRPr sz="2025" b="1">
                <a:solidFill>
                  <a:srgbClr val="172D42"/>
                </a:solidFill>
              </a:defRPr>
            </a:lvl1pPr>
            <a:lvl2pPr>
              <a:defRPr sz="2025" b="1">
                <a:solidFill>
                  <a:srgbClr val="172D42"/>
                </a:solidFill>
              </a:defRPr>
            </a:lvl2pPr>
            <a:lvl3pPr>
              <a:defRPr sz="2025" b="1">
                <a:solidFill>
                  <a:srgbClr val="172D42"/>
                </a:solidFill>
              </a:defRPr>
            </a:lvl3pPr>
            <a:lvl4pPr>
              <a:defRPr sz="2025" b="1">
                <a:solidFill>
                  <a:srgbClr val="172D42"/>
                </a:solidFill>
              </a:defRPr>
            </a:lvl4pPr>
            <a:lvl5pPr>
              <a:defRPr sz="2025" b="1">
                <a:solidFill>
                  <a:srgbClr val="172D42"/>
                </a:solidFill>
              </a:defRPr>
            </a:lvl5pPr>
            <a:lvl6pPr>
              <a:defRPr sz="2025" b="1">
                <a:solidFill>
                  <a:srgbClr val="172D42"/>
                </a:solidFill>
              </a:defRPr>
            </a:lvl6pPr>
            <a:lvl7pPr>
              <a:defRPr sz="2025" b="1">
                <a:solidFill>
                  <a:srgbClr val="172D42"/>
                </a:solidFill>
              </a:defRPr>
            </a:lvl7pPr>
            <a:lvl8pPr>
              <a:defRPr sz="2025" b="1">
                <a:solidFill>
                  <a:srgbClr val="172D42"/>
                </a:solidFill>
              </a:defRPr>
            </a:lvl8pPr>
            <a:lvl9pPr>
              <a:defRPr sz="2025" b="1">
                <a:solidFill>
                  <a:srgbClr val="172D4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D42"/>
                </a:solidFill>
              </a:defRPr>
            </a:pPr>
            <a:r>
              <a:rPr sz="2025" b="1">
                <a:solidFill>
                  <a:srgbClr val="172D42"/>
                </a:solidFill>
              </a:rPr>
              <a:t>VAEによる埋め込み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35161-689A-4245-8411-59E29A96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10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8C95"/>
                </a:solidFill>
              </a:defRPr>
            </a:defPPr>
            <a:lvl1pPr>
              <a:defRPr sz="2025" b="1">
                <a:solidFill>
                  <a:srgbClr val="008C95"/>
                </a:solidFill>
              </a:defRPr>
            </a:lvl1pPr>
            <a:lvl2pPr>
              <a:defRPr sz="2025" b="1">
                <a:solidFill>
                  <a:srgbClr val="008C95"/>
                </a:solidFill>
              </a:defRPr>
            </a:lvl2pPr>
            <a:lvl3pPr>
              <a:defRPr sz="2025" b="1">
                <a:solidFill>
                  <a:srgbClr val="008C95"/>
                </a:solidFill>
              </a:defRPr>
            </a:lvl3pPr>
            <a:lvl4pPr>
              <a:defRPr sz="2025" b="1">
                <a:solidFill>
                  <a:srgbClr val="008C95"/>
                </a:solidFill>
              </a:defRPr>
            </a:lvl4pPr>
            <a:lvl5pPr>
              <a:defRPr sz="2025" b="1">
                <a:solidFill>
                  <a:srgbClr val="008C95"/>
                </a:solidFill>
              </a:defRPr>
            </a:lvl5pPr>
            <a:lvl6pPr>
              <a:defRPr sz="2025" b="1">
                <a:solidFill>
                  <a:srgbClr val="008C95"/>
                </a:solidFill>
              </a:defRPr>
            </a:lvl6pPr>
            <a:lvl7pPr>
              <a:defRPr sz="2025" b="1">
                <a:solidFill>
                  <a:srgbClr val="008C95"/>
                </a:solidFill>
              </a:defRPr>
            </a:lvl7pPr>
            <a:lvl8pPr>
              <a:defRPr sz="2025" b="1">
                <a:solidFill>
                  <a:srgbClr val="008C95"/>
                </a:solidFill>
              </a:defRPr>
            </a:lvl8pPr>
            <a:lvl9pPr>
              <a:defRPr sz="2025" b="1">
                <a:solidFill>
                  <a:srgbClr val="008C9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8C95"/>
                </a:solidFill>
              </a:defRPr>
            </a:pPr>
            <a:r>
              <a:rPr sz="2025" b="1">
                <a:solidFill>
                  <a:srgbClr val="008C95"/>
                </a:solidFill>
              </a:rPr>
              <a:t>L2距離・閾値選択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E9E5F-8C87-426B-A018-25E49B41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810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D42"/>
                </a:solidFill>
              </a:defRPr>
            </a:defPPr>
            <a:lvl1pPr>
              <a:defRPr sz="1950" b="1">
                <a:solidFill>
                  <a:srgbClr val="172D42"/>
                </a:solidFill>
              </a:defRPr>
            </a:lvl1pPr>
            <a:lvl2pPr>
              <a:defRPr sz="1950" b="1">
                <a:solidFill>
                  <a:srgbClr val="172D42"/>
                </a:solidFill>
              </a:defRPr>
            </a:lvl2pPr>
            <a:lvl3pPr>
              <a:defRPr sz="1950" b="1">
                <a:solidFill>
                  <a:srgbClr val="172D42"/>
                </a:solidFill>
              </a:defRPr>
            </a:lvl3pPr>
            <a:lvl4pPr>
              <a:defRPr sz="1950" b="1">
                <a:solidFill>
                  <a:srgbClr val="172D42"/>
                </a:solidFill>
              </a:defRPr>
            </a:lvl4pPr>
            <a:lvl5pPr>
              <a:defRPr sz="1950" b="1">
                <a:solidFill>
                  <a:srgbClr val="172D42"/>
                </a:solidFill>
              </a:defRPr>
            </a:lvl5pPr>
            <a:lvl6pPr>
              <a:defRPr sz="1950" b="1">
                <a:solidFill>
                  <a:srgbClr val="172D42"/>
                </a:solidFill>
              </a:defRPr>
            </a:lvl6pPr>
            <a:lvl7pPr>
              <a:defRPr sz="1950" b="1">
                <a:solidFill>
                  <a:srgbClr val="172D42"/>
                </a:solidFill>
              </a:defRPr>
            </a:lvl7pPr>
            <a:lvl8pPr>
              <a:defRPr sz="1950" b="1">
                <a:solidFill>
                  <a:srgbClr val="172D42"/>
                </a:solidFill>
              </a:defRPr>
            </a:lvl8pPr>
            <a:lvl9pPr>
              <a:defRPr sz="1950" b="1">
                <a:solidFill>
                  <a:srgbClr val="172D4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D42"/>
                </a:solidFill>
              </a:defRPr>
            </a:pPr>
            <a:r>
              <a:rPr sz="1950" b="1">
                <a:solidFill>
                  <a:srgbClr val="172D42"/>
                </a:solidFill>
              </a:rPr>
              <a:t>デモ＋検索結果でBC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85813-A3DF-43D7-9068-C1917C11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27C"/>
                </a:solidFill>
              </a:defRPr>
            </a:defPPr>
            <a:lvl1pPr>
              <a:defRPr sz="1200" b="0">
                <a:solidFill>
                  <a:srgbClr val="66727C"/>
                </a:solidFill>
              </a:defRPr>
            </a:lvl1pPr>
            <a:lvl2pPr>
              <a:defRPr sz="1200" b="0">
                <a:solidFill>
                  <a:srgbClr val="66727C"/>
                </a:solidFill>
              </a:defRPr>
            </a:lvl2pPr>
            <a:lvl3pPr>
              <a:defRPr sz="1200" b="0">
                <a:solidFill>
                  <a:srgbClr val="66727C"/>
                </a:solidFill>
              </a:defRPr>
            </a:lvl3pPr>
            <a:lvl4pPr>
              <a:defRPr sz="1200" b="0">
                <a:solidFill>
                  <a:srgbClr val="66727C"/>
                </a:solidFill>
              </a:defRPr>
            </a:lvl4pPr>
            <a:lvl5pPr>
              <a:defRPr sz="1200" b="0">
                <a:solidFill>
                  <a:srgbClr val="66727C"/>
                </a:solidFill>
              </a:defRPr>
            </a:lvl5pPr>
            <a:lvl6pPr>
              <a:defRPr sz="1200" b="0">
                <a:solidFill>
                  <a:srgbClr val="66727C"/>
                </a:solidFill>
              </a:defRPr>
            </a:lvl6pPr>
            <a:lvl7pPr>
              <a:defRPr sz="1200" b="0">
                <a:solidFill>
                  <a:srgbClr val="66727C"/>
                </a:solidFill>
              </a:defRPr>
            </a:lvl7pPr>
            <a:lvl8pPr>
              <a:defRPr sz="1200" b="0">
                <a:solidFill>
                  <a:srgbClr val="66727C"/>
                </a:solidFill>
              </a:defRPr>
            </a:lvl8pPr>
            <a:lvl9pPr>
              <a:defRPr sz="1200" b="0">
                <a:solidFill>
                  <a:srgbClr val="66727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27C"/>
                </a:solidFill>
              </a:defRPr>
            </a:pPr>
            <a:r>
              <a:rPr sz="1200" b="0">
                <a:solidFill>
                  <a:srgbClr val="66727C"/>
                </a:solidFill>
              </a:rPr>
              <a:t>Du et al., 2023  Fig. 2 / §III</a:t>
            </a:r>
          </a:p>
        </p:txBody>
      </p:sp>
    </p:spTree>
    <p:extLst>
      <p:ext uri="{BB962C8B-B14F-4D97-AF65-F5344CB8AC3E}">
        <p14:creationId xmlns:p14="http://schemas.microsoft.com/office/powerpoint/2010/main" val="1222381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2026-10-18T15:54:25.4680000Z</dcterms:created>
  <dcterms:modified xsi:type="dcterms:W3CDTF">2026-10-18T15:54:25.4680000Z</dcterms:modified>
</coreProperties>
</file>